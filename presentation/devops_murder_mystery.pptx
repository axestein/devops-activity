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828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480000">
            <a:off x="9281160" y="384048"/>
            <a:ext cx="2331720" cy="457200"/>
          </a:xfrm>
          <a:prstGeom prst="roundRect">
            <a:avLst>
              <a:gd name="adj" fmla="val 12000"/>
            </a:avLst>
          </a:prstGeom>
          <a:solidFill>
            <a:srgbClr val="2A0F0F"/>
          </a:solidFill>
          <a:ln w="15875">
            <a:solidFill>
              <a:srgbClr val="FF7B7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 rot="-480000">
            <a:off x="9281160" y="38404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CLASSIFIED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whoami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incident_response_team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96596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kern="0" spc="2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DEVOPS MURDER MYSTERY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4480560" y="2880360"/>
            <a:ext cx="3246120" cy="438912"/>
          </a:xfrm>
          <a:prstGeom prst="roundRect">
            <a:avLst>
              <a:gd name="adj" fmla="val 50000"/>
            </a:avLst>
          </a:prstGeom>
          <a:solidFill>
            <a:srgbClr val="1C2129"/>
          </a:solidFill>
          <a:ln w="15875">
            <a:solidFill>
              <a:srgbClr val="FF7B7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80560" y="288036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2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FILE #001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52044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79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“Solving a Crime with Real DevOps Commands”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950208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_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651760" y="4434840"/>
            <a:ext cx="6885432" cy="1965960"/>
          </a:xfrm>
          <a:prstGeom prst="roundRect">
            <a:avLst>
              <a:gd name="adj" fmla="val 325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51760" y="4434840"/>
            <a:ext cx="6885432" cy="310896"/>
          </a:xfrm>
          <a:prstGeom prst="roundRect">
            <a:avLst>
              <a:gd name="adj" fmla="val 20588"/>
            </a:avLst>
          </a:prstGeom>
          <a:solidFill>
            <a:srgbClr val="010409"/>
          </a:solidFill>
          <a:ln/>
        </p:spPr>
      </p:sp>
      <p:sp>
        <p:nvSpPr>
          <p:cNvPr id="13" name="Shape 11"/>
          <p:cNvSpPr/>
          <p:nvPr/>
        </p:nvSpPr>
        <p:spPr>
          <a:xfrm>
            <a:off x="2651760" y="4590288"/>
            <a:ext cx="6885432" cy="155448"/>
          </a:xfrm>
          <a:prstGeom prst="rect">
            <a:avLst/>
          </a:prstGeom>
          <a:solidFill>
            <a:srgbClr val="010409"/>
          </a:solidFill>
          <a:ln/>
        </p:spPr>
      </p:sp>
      <p:sp>
        <p:nvSpPr>
          <p:cNvPr id="14" name="Shape 12"/>
          <p:cNvSpPr/>
          <p:nvPr/>
        </p:nvSpPr>
        <p:spPr>
          <a:xfrm>
            <a:off x="2798064" y="4549140"/>
            <a:ext cx="82296" cy="82296"/>
          </a:xfrm>
          <a:prstGeom prst="ellipse">
            <a:avLst/>
          </a:prstGeom>
          <a:solidFill>
            <a:srgbClr val="FF7B72"/>
          </a:solidFill>
          <a:ln/>
        </p:spPr>
      </p:sp>
      <p:sp>
        <p:nvSpPr>
          <p:cNvPr id="15" name="Shape 13"/>
          <p:cNvSpPr/>
          <p:nvPr/>
        </p:nvSpPr>
        <p:spPr>
          <a:xfrm>
            <a:off x="2999232" y="4549140"/>
            <a:ext cx="82296" cy="82296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16" name="Shape 14"/>
          <p:cNvSpPr/>
          <p:nvPr/>
        </p:nvSpPr>
        <p:spPr>
          <a:xfrm>
            <a:off x="3200400" y="4549140"/>
            <a:ext cx="82296" cy="82296"/>
          </a:xfrm>
          <a:prstGeom prst="ellipse">
            <a:avLst/>
          </a:prstGeom>
          <a:solidFill>
            <a:srgbClr val="7EE78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520440" y="4434840"/>
            <a:ext cx="5788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team_roster.txt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2971800" y="4892040"/>
            <a:ext cx="6245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Aditya Kumar Singh      </a:t>
            </a: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RA2311003010916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971800" y="5221224"/>
            <a:ext cx="6245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Shaad Quazi             </a:t>
            </a: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RA2311003010917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2971800" y="5550408"/>
            <a:ext cx="6245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Suyash Jha              </a:t>
            </a: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RA2311003010923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971800" y="5943600"/>
            <a:ext cx="624535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971800" y="6062472"/>
            <a:ext cx="6245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Subject: </a:t>
            </a:r>
            <a:r>
              <a:rPr lang="en-US" sz="1200" b="1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Essentials in Cloud and DevOps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1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THIS ACTIVITY?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how DevOps is usually taught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9174175" y="6473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FILE #001  ·  2/10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5074920" cy="2606040"/>
          </a:xfrm>
          <a:prstGeom prst="roundRect">
            <a:avLst>
              <a:gd name="adj" fmla="val 2807"/>
            </a:avLst>
          </a:prstGeom>
          <a:solidFill>
            <a:srgbClr val="1C212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70992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😴  TRADITIONAL LECTURE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9456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42 of 87 ...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63347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 docker &lt;command&gt; [OPTIONS]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072384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copy this down.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51129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on Friday.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96712" y="2491740"/>
            <a:ext cx="777240" cy="640080"/>
          </a:xfrm>
          <a:prstGeom prst="chevron">
            <a:avLst/>
          </a:prstGeom>
          <a:solidFill>
            <a:srgbClr val="FFD700"/>
          </a:solidFill>
          <a:ln/>
        </p:spPr>
      </p:sp>
      <p:sp>
        <p:nvSpPr>
          <p:cNvPr id="12" name="Shape 10"/>
          <p:cNvSpPr/>
          <p:nvPr/>
        </p:nvSpPr>
        <p:spPr>
          <a:xfrm>
            <a:off x="6629400" y="1508760"/>
            <a:ext cx="5105095" cy="2606040"/>
          </a:xfrm>
          <a:prstGeom prst="roundRect">
            <a:avLst>
              <a:gd name="adj" fmla="val 2807"/>
            </a:avLst>
          </a:prstGeom>
          <a:solidFill>
            <a:srgbClr val="161B22"/>
          </a:solidFill>
          <a:ln w="19050">
            <a:solidFill>
              <a:srgbClr val="7EE78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29400" y="1508760"/>
            <a:ext cx="5105095" cy="2606040"/>
          </a:xfrm>
          <a:prstGeom prst="roundRect">
            <a:avLst>
              <a:gd name="adj" fmla="val 245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29400" y="1508760"/>
            <a:ext cx="5105095" cy="310896"/>
          </a:xfrm>
          <a:prstGeom prst="roundRect">
            <a:avLst>
              <a:gd name="adj" fmla="val 20588"/>
            </a:avLst>
          </a:prstGeom>
          <a:solidFill>
            <a:srgbClr val="010409"/>
          </a:solidFill>
          <a:ln/>
        </p:spPr>
      </p:sp>
      <p:sp>
        <p:nvSpPr>
          <p:cNvPr id="15" name="Shape 13"/>
          <p:cNvSpPr/>
          <p:nvPr/>
        </p:nvSpPr>
        <p:spPr>
          <a:xfrm>
            <a:off x="6629400" y="1664208"/>
            <a:ext cx="5105095" cy="155448"/>
          </a:xfrm>
          <a:prstGeom prst="rect">
            <a:avLst/>
          </a:prstGeom>
          <a:solidFill>
            <a:srgbClr val="010409"/>
          </a:solidFill>
          <a:ln/>
        </p:spPr>
      </p:sp>
      <p:sp>
        <p:nvSpPr>
          <p:cNvPr id="16" name="Shape 14"/>
          <p:cNvSpPr/>
          <p:nvPr/>
        </p:nvSpPr>
        <p:spPr>
          <a:xfrm>
            <a:off x="6775704" y="1623060"/>
            <a:ext cx="82296" cy="82296"/>
          </a:xfrm>
          <a:prstGeom prst="ellipse">
            <a:avLst/>
          </a:prstGeom>
          <a:solidFill>
            <a:srgbClr val="FF7B72"/>
          </a:solidFill>
          <a:ln/>
        </p:spPr>
      </p:sp>
      <p:sp>
        <p:nvSpPr>
          <p:cNvPr id="17" name="Shape 15"/>
          <p:cNvSpPr/>
          <p:nvPr/>
        </p:nvSpPr>
        <p:spPr>
          <a:xfrm>
            <a:off x="6976872" y="1623060"/>
            <a:ext cx="82296" cy="82296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18" name="Shape 16"/>
          <p:cNvSpPr/>
          <p:nvPr/>
        </p:nvSpPr>
        <p:spPr>
          <a:xfrm>
            <a:off x="7178040" y="1623060"/>
            <a:ext cx="82296" cy="82296"/>
          </a:xfrm>
          <a:prstGeom prst="ellipse">
            <a:avLst/>
          </a:prstGeom>
          <a:solidFill>
            <a:srgbClr val="7EE78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498080" y="1508760"/>
            <a:ext cx="40078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solve_mystery.sh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6903720" y="1965960"/>
            <a:ext cx="4556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./investigate.sh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903720" y="2350008"/>
            <a:ext cx="4556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r>
              <a:rPr lang="en-US" sz="12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Scanning server.log ...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2734056"/>
            <a:ext cx="4556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r>
              <a:rPr lang="en-US" sz="12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[+] Clue found!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3118104"/>
            <a:ext cx="4556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r>
              <a:rPr lang="en-US" sz="120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Correlating evidence ...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389120"/>
            <a:ext cx="3576218" cy="1920240"/>
          </a:xfrm>
          <a:prstGeom prst="roundRect">
            <a:avLst>
              <a:gd name="adj" fmla="val 381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" y="4590288"/>
            <a:ext cx="35762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😴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516636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&amp; Disconnected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5669280"/>
            <a:ext cx="32104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 feel like theory, not real work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307738" y="4389120"/>
            <a:ext cx="3576218" cy="1920240"/>
          </a:xfrm>
          <a:prstGeom prst="roundRect">
            <a:avLst>
              <a:gd name="adj" fmla="val 381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307738" y="4590288"/>
            <a:ext cx="35762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30" name="Text 28"/>
          <p:cNvSpPr txBox="1"/>
          <p:nvPr/>
        </p:nvSpPr>
        <p:spPr>
          <a:xfrm>
            <a:off x="4490618" y="516636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Memorized, Not Understood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4490618" y="5669280"/>
            <a:ext cx="32104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typed without context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158277" y="4389120"/>
            <a:ext cx="3576218" cy="1920240"/>
          </a:xfrm>
          <a:prstGeom prst="roundRect">
            <a:avLst>
              <a:gd name="adj" fmla="val 381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158277" y="4590288"/>
            <a:ext cx="35762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🎮</a:t>
            </a:r>
            <a:endParaRPr lang="en-US" sz="2600" dirty="0"/>
          </a:p>
        </p:txBody>
      </p:sp>
      <p:sp>
        <p:nvSpPr>
          <p:cNvPr id="34" name="Text 32"/>
          <p:cNvSpPr txBox="1"/>
          <p:nvPr/>
        </p:nvSpPr>
        <p:spPr>
          <a:xfrm>
            <a:off x="8341157" y="516636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&amp; Memorable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8341157" y="5669280"/>
            <a:ext cx="32104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that feels like a mystery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1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STORY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03:42 AM — Production Server Breached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9174175" y="6473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FILE #001  ·  3/10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6858000" cy="4709160"/>
          </a:xfrm>
          <a:prstGeom prst="roundRect">
            <a:avLst>
              <a:gd name="adj" fmla="val 135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08760"/>
            <a:ext cx="6858000" cy="310896"/>
          </a:xfrm>
          <a:prstGeom prst="roundRect">
            <a:avLst>
              <a:gd name="adj" fmla="val 20588"/>
            </a:avLst>
          </a:prstGeom>
          <a:solidFill>
            <a:srgbClr val="010409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664208"/>
            <a:ext cx="6858000" cy="155448"/>
          </a:xfrm>
          <a:prstGeom prst="rect">
            <a:avLst/>
          </a:prstGeom>
          <a:solidFill>
            <a:srgbClr val="010409"/>
          </a:solidFill>
          <a:ln/>
        </p:spPr>
      </p:sp>
      <p:sp>
        <p:nvSpPr>
          <p:cNvPr id="8" name="Shape 6"/>
          <p:cNvSpPr/>
          <p:nvPr/>
        </p:nvSpPr>
        <p:spPr>
          <a:xfrm>
            <a:off x="603504" y="1623060"/>
            <a:ext cx="82296" cy="82296"/>
          </a:xfrm>
          <a:prstGeom prst="ellipse">
            <a:avLst/>
          </a:prstGeom>
          <a:solidFill>
            <a:srgbClr val="FF7B72"/>
          </a:solidFill>
          <a:ln/>
        </p:spPr>
      </p:sp>
      <p:sp>
        <p:nvSpPr>
          <p:cNvPr id="9" name="Shape 7"/>
          <p:cNvSpPr/>
          <p:nvPr/>
        </p:nvSpPr>
        <p:spPr>
          <a:xfrm>
            <a:off x="804672" y="1623060"/>
            <a:ext cx="82296" cy="82296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10" name="Shape 8"/>
          <p:cNvSpPr/>
          <p:nvPr/>
        </p:nvSpPr>
        <p:spPr>
          <a:xfrm>
            <a:off x="1005840" y="1623060"/>
            <a:ext cx="82296" cy="82296"/>
          </a:xfrm>
          <a:prstGeom prst="ellipse">
            <a:avLst/>
          </a:prstGeom>
          <a:solidFill>
            <a:srgbClr val="7EE78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325880" y="1508760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server.log — live tail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31520" y="1965960"/>
            <a:ext cx="6309360" cy="457200"/>
          </a:xfrm>
          <a:prstGeom prst="roundRect">
            <a:avLst>
              <a:gd name="adj" fmla="val 12000"/>
            </a:avLst>
          </a:prstGeom>
          <a:solidFill>
            <a:srgbClr val="2A0F0F"/>
          </a:solidFill>
          <a:ln w="12700">
            <a:solidFill>
              <a:srgbClr val="FF7B7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196596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10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 INTRUSION DETECTED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2624328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[03:42:07] </a:t>
            </a:r>
            <a:r>
              <a:rPr lang="en-US" sz="125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 FAILED </a:t>
            </a:r>
            <a:r>
              <a:rPr lang="en-US" sz="12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user=alice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026664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[03:42:45] </a:t>
            </a:r>
            <a:r>
              <a:rPr lang="en-US" sz="125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 SUCCESS </a:t>
            </a:r>
            <a:r>
              <a:rPr lang="en-US" sz="12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user=bob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342900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[03:43:10] </a:t>
            </a:r>
            <a:r>
              <a:rPr lang="en-US" sz="125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ACCESS </a:t>
            </a:r>
            <a:r>
              <a:rPr lang="en-US" sz="12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/etc/passwd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831336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[03:44:02] </a:t>
            </a:r>
            <a:r>
              <a:rPr lang="en-US" sz="125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WARNING: </a:t>
            </a:r>
            <a:r>
              <a:rPr lang="en-US" sz="12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 write detected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233672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[03:45:33] </a:t>
            </a:r>
            <a:r>
              <a:rPr lang="en-US" sz="125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ALERT: </a:t>
            </a:r>
            <a:r>
              <a:rPr lang="en-US" sz="12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history modified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4636008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[03:46:51] </a:t>
            </a:r>
            <a:r>
              <a:rPr lang="en-US" sz="125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ALERT: </a:t>
            </a:r>
            <a:r>
              <a:rPr lang="en-US" sz="12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k8s pod created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635240" y="1508760"/>
            <a:ext cx="4099255" cy="4709160"/>
          </a:xfrm>
          <a:prstGeom prst="roundRect">
            <a:avLst>
              <a:gd name="adj" fmla="val 178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909560" y="1783080"/>
            <a:ext cx="35506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🏢 VICTIM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909560" y="2093976"/>
            <a:ext cx="3550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TechCorp Inc. (fictional)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909560" y="2651760"/>
            <a:ext cx="35506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🕵️ INVESTIGATORS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7909560" y="2962656"/>
            <a:ext cx="3550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— the Incident Response Team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909560" y="3520440"/>
            <a:ext cx="3550615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909560" y="3749040"/>
            <a:ext cx="35506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THREE PILLARS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909560" y="4123944"/>
            <a:ext cx="457200" cy="457200"/>
          </a:xfrm>
          <a:prstGeom prst="ellipse">
            <a:avLst/>
          </a:prstGeom>
          <a:solidFill>
            <a:srgbClr val="1C2129"/>
          </a:solidFill>
          <a:ln w="19050">
            <a:solidFill>
              <a:srgbClr val="7EE78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909560" y="4123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📖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8503920" y="4133088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503920" y="4370832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mystery to solve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909560" y="4745736"/>
            <a:ext cx="457200" cy="457200"/>
          </a:xfrm>
          <a:prstGeom prst="ellipse">
            <a:avLst/>
          </a:prstGeom>
          <a:solidFill>
            <a:srgbClr val="1C2129"/>
          </a:solidFill>
          <a:ln w="19050">
            <a:solidFill>
              <a:srgbClr val="7EE78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909560" y="4745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🎮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8503920" y="4754880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503920" y="4992624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+ live leaderboard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909560" y="5367528"/>
            <a:ext cx="457200" cy="457200"/>
          </a:xfrm>
          <a:prstGeom prst="ellipse">
            <a:avLst/>
          </a:prstGeom>
          <a:solidFill>
            <a:srgbClr val="1C2129"/>
          </a:solidFill>
          <a:ln w="19050">
            <a:solidFill>
              <a:srgbClr val="7EE787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909560" y="5367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💻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8503920" y="5376672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Lab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8503920" y="5614416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Linux/Docker/Git/K8s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1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CRIME SCENE SETUP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— four real layers, not simulations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9174175" y="6473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FILE #001  ·  4/10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5394960" cy="1078992"/>
          </a:xfrm>
          <a:prstGeom prst="roundRect">
            <a:avLst>
              <a:gd name="adj" fmla="val 6780"/>
            </a:avLst>
          </a:prstGeom>
          <a:solidFill>
            <a:srgbClr val="1C2129"/>
          </a:solidFill>
          <a:ln w="19050">
            <a:solidFill>
              <a:srgbClr val="FFD7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773936"/>
            <a:ext cx="548640" cy="548640"/>
          </a:xfrm>
          <a:prstGeom prst="ellipse">
            <a:avLst/>
          </a:prstGeom>
          <a:solidFill>
            <a:srgbClr val="1C2129"/>
          </a:solidFill>
          <a:ln w="19050">
            <a:solidFill>
              <a:srgbClr val="FFD7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7739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☸️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6733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KUBERNETES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0574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pod labels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5394960" cy="1078992"/>
          </a:xfrm>
          <a:prstGeom prst="roundRect">
            <a:avLst>
              <a:gd name="adj" fmla="val 6780"/>
            </a:avLst>
          </a:prstGeom>
          <a:solidFill>
            <a:srgbClr val="1C2129"/>
          </a:solidFill>
          <a:ln w="19050">
            <a:solidFill>
              <a:srgbClr val="D2A8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962656"/>
            <a:ext cx="548640" cy="548640"/>
          </a:xfrm>
          <a:prstGeom prst="ellipse">
            <a:avLst/>
          </a:prstGeom>
          <a:solidFill>
            <a:srgbClr val="1C2129"/>
          </a:solidFill>
          <a:ln w="19050">
            <a:solidFill>
              <a:srgbClr val="D2A8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29626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28620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2461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Tampered commit history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886200"/>
            <a:ext cx="5394960" cy="1078992"/>
          </a:xfrm>
          <a:prstGeom prst="roundRect">
            <a:avLst>
              <a:gd name="adj" fmla="val 6780"/>
            </a:avLst>
          </a:prstGeom>
          <a:solidFill>
            <a:srgbClr val="1C2129"/>
          </a:solidFill>
          <a:ln w="19050">
            <a:solidFill>
              <a:srgbClr val="79C0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4151376"/>
            <a:ext cx="548640" cy="548640"/>
          </a:xfrm>
          <a:prstGeom prst="ellipse">
            <a:avLst/>
          </a:prstGeom>
          <a:solidFill>
            <a:srgbClr val="1C2129"/>
          </a:solidFill>
          <a:ln w="19050">
            <a:solidFill>
              <a:srgbClr val="79C0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41513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🐳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0507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44348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container w/ hidden evidence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5074920"/>
            <a:ext cx="5394960" cy="1078992"/>
          </a:xfrm>
          <a:prstGeom prst="roundRect">
            <a:avLst>
              <a:gd name="adj" fmla="val 6780"/>
            </a:avLst>
          </a:prstGeom>
          <a:solidFill>
            <a:srgbClr val="1C2129"/>
          </a:solidFill>
          <a:ln w="19050">
            <a:solidFill>
              <a:srgbClr val="7EE78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5340096"/>
            <a:ext cx="548640" cy="548640"/>
          </a:xfrm>
          <a:prstGeom prst="ellipse">
            <a:avLst/>
          </a:prstGeom>
          <a:solidFill>
            <a:srgbClr val="1C2129"/>
          </a:solidFill>
          <a:ln w="19050">
            <a:solidFill>
              <a:srgbClr val="7EE78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53400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🐧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52395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LINUX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371600" y="56235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filesystem, hidden files, logs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72200" y="1508760"/>
            <a:ext cx="5562295" cy="4709160"/>
          </a:xfrm>
          <a:prstGeom prst="roundRect">
            <a:avLst>
              <a:gd name="adj" fmla="val 135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72200" y="1508760"/>
            <a:ext cx="5562295" cy="310896"/>
          </a:xfrm>
          <a:prstGeom prst="roundRect">
            <a:avLst>
              <a:gd name="adj" fmla="val 20588"/>
            </a:avLst>
          </a:prstGeom>
          <a:solidFill>
            <a:srgbClr val="010409"/>
          </a:solidFill>
          <a:ln/>
        </p:spPr>
      </p:sp>
      <p:sp>
        <p:nvSpPr>
          <p:cNvPr id="27" name="Shape 25"/>
          <p:cNvSpPr/>
          <p:nvPr/>
        </p:nvSpPr>
        <p:spPr>
          <a:xfrm>
            <a:off x="6172200" y="1664208"/>
            <a:ext cx="5562295" cy="155448"/>
          </a:xfrm>
          <a:prstGeom prst="rect">
            <a:avLst/>
          </a:prstGeom>
          <a:solidFill>
            <a:srgbClr val="010409"/>
          </a:solidFill>
          <a:ln/>
        </p:spPr>
      </p:sp>
      <p:sp>
        <p:nvSpPr>
          <p:cNvPr id="28" name="Shape 26"/>
          <p:cNvSpPr/>
          <p:nvPr/>
        </p:nvSpPr>
        <p:spPr>
          <a:xfrm>
            <a:off x="6318504" y="1623060"/>
            <a:ext cx="82296" cy="82296"/>
          </a:xfrm>
          <a:prstGeom prst="ellipse">
            <a:avLst/>
          </a:prstGeom>
          <a:solidFill>
            <a:srgbClr val="FF7B72"/>
          </a:solidFill>
          <a:ln/>
        </p:spPr>
      </p:sp>
      <p:sp>
        <p:nvSpPr>
          <p:cNvPr id="29" name="Shape 27"/>
          <p:cNvSpPr/>
          <p:nvPr/>
        </p:nvSpPr>
        <p:spPr>
          <a:xfrm>
            <a:off x="6519672" y="1623060"/>
            <a:ext cx="82296" cy="82296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30" name="Shape 28"/>
          <p:cNvSpPr/>
          <p:nvPr/>
        </p:nvSpPr>
        <p:spPr>
          <a:xfrm>
            <a:off x="6720840" y="1623060"/>
            <a:ext cx="82296" cy="82296"/>
          </a:xfrm>
          <a:prstGeom prst="ellipse">
            <a:avLst/>
          </a:prstGeom>
          <a:solidFill>
            <a:srgbClr val="7EE78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040880" y="1508760"/>
            <a:ext cx="4465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~/case_files — setup.sh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6446520" y="2011680"/>
            <a:ext cx="5013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3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./setup.sh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446520" y="2468880"/>
            <a:ext cx="5013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r>
              <a:rPr lang="en-US" sz="12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Building Linux environment... </a:t>
            </a: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6446520" y="2926080"/>
            <a:ext cx="5013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r>
              <a:rPr lang="en-US" sz="12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Starting Docker container... </a:t>
            </a:r>
            <a:r>
              <a:rPr lang="en-US" sz="12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6446520" y="3383280"/>
            <a:ext cx="5013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r>
              <a:rPr lang="en-US" sz="12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Initializing Git repo... </a:t>
            </a:r>
            <a:r>
              <a:rPr lang="en-US" sz="125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6446520" y="3840480"/>
            <a:ext cx="5013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r>
              <a:rPr lang="en-US" sz="12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Deploying Kubernetes pods... </a:t>
            </a:r>
            <a:r>
              <a:rPr lang="en-US" sz="125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446520" y="4480560"/>
            <a:ext cx="5013655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446520" y="4636008"/>
            <a:ext cx="5013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r>
              <a:rPr lang="en-US" sz="13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Environment ready in 4.2s </a:t>
            </a:r>
            <a:r>
              <a:rPr lang="en-US" sz="13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🎯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6446520" y="5120640"/>
            <a:ext cx="5013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script. Every team gets an identical,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6446520" y="5422392"/>
            <a:ext cx="5013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fresh crime scene to investigate.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1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10 CLUES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investigation — every clue teaches a different skill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9174175" y="6473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FILE #001  ·  5/10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02920" cy="365760"/>
          </a:xfrm>
          <a:prstGeom prst="rect">
            <a:avLst/>
          </a:prstGeom>
          <a:solidFill>
            <a:srgbClr val="1C2129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4173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60120" y="1417320"/>
            <a:ext cx="2926080" cy="365760"/>
          </a:xfrm>
          <a:prstGeom prst="rect">
            <a:avLst/>
          </a:prstGeom>
          <a:solidFill>
            <a:srgbClr val="1C2129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1417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CLUE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86200" y="1417320"/>
            <a:ext cx="4572000" cy="365760"/>
          </a:xfrm>
          <a:prstGeom prst="rect">
            <a:avLst/>
          </a:prstGeom>
          <a:solidFill>
            <a:srgbClr val="1C2129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977640" y="14173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458200" y="1417320"/>
            <a:ext cx="3273552" cy="365760"/>
          </a:xfrm>
          <a:prstGeom prst="rect">
            <a:avLst/>
          </a:prstGeom>
          <a:solidFill>
            <a:srgbClr val="1C2129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549640" y="1417320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CONCEPT TAUGHT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1783080"/>
            <a:ext cx="502920" cy="43434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1783080"/>
            <a:ext cx="33832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60120" y="1783080"/>
            <a:ext cx="2926080" cy="43434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51560" y="1783080"/>
            <a:ext cx="276148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hidden files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886200" y="1783080"/>
            <a:ext cx="4572000" cy="43434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977640" y="1783080"/>
            <a:ext cx="44074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-la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458200" y="1783080"/>
            <a:ext cx="3273552" cy="43434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549640" y="1783080"/>
            <a:ext cx="310896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files in Linux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2217420"/>
            <a:ext cx="502920" cy="4343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2217420"/>
            <a:ext cx="33832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60120" y="2217420"/>
            <a:ext cx="2926080" cy="4343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51560" y="2217420"/>
            <a:ext cx="276148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hidden clue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886200" y="2217420"/>
            <a:ext cx="4572000" cy="4343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977640" y="2217420"/>
            <a:ext cx="44074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.hidden_clue.txt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458200" y="2217420"/>
            <a:ext cx="3273552" cy="4343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549640" y="2217420"/>
            <a:ext cx="310896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files with cat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2651760"/>
            <a:ext cx="502920" cy="43434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" y="2651760"/>
            <a:ext cx="33832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60120" y="2651760"/>
            <a:ext cx="2926080" cy="43434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51560" y="2651760"/>
            <a:ext cx="276148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logged in?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886200" y="2651760"/>
            <a:ext cx="4572000" cy="43434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977640" y="2651760"/>
            <a:ext cx="44074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grep "LOGIN SUCCESS" server.log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458200" y="2651760"/>
            <a:ext cx="3273552" cy="43434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549640" y="2651760"/>
            <a:ext cx="310896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analysis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" y="3086100"/>
            <a:ext cx="502920" cy="4343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48640" y="3086100"/>
            <a:ext cx="33832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960120" y="3086100"/>
            <a:ext cx="2926080" cy="4343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051560" y="3086100"/>
            <a:ext cx="276148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accessed?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886200" y="3086100"/>
            <a:ext cx="4572000" cy="4343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977640" y="3086100"/>
            <a:ext cx="44074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grep "FILE ACCESS" server.log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8458200" y="3086100"/>
            <a:ext cx="3273552" cy="4343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549640" y="3086100"/>
            <a:ext cx="310896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forensics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57200" y="3520440"/>
            <a:ext cx="502920" cy="43434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48640" y="3520440"/>
            <a:ext cx="33832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960120" y="3520440"/>
            <a:ext cx="2926080" cy="43434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051560" y="3520440"/>
            <a:ext cx="276148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containers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3886200" y="3520440"/>
            <a:ext cx="4572000" cy="43434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3977640" y="3520440"/>
            <a:ext cx="44074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8458200" y="3520440"/>
            <a:ext cx="3273552" cy="43434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549640" y="3520440"/>
            <a:ext cx="310896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inspection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57200" y="3954780"/>
            <a:ext cx="502920" cy="4343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548640" y="3954780"/>
            <a:ext cx="33832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960120" y="3954780"/>
            <a:ext cx="2926080" cy="4343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1051560" y="3954780"/>
            <a:ext cx="276148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in container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3886200" y="3954780"/>
            <a:ext cx="4572000" cy="4343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3977640" y="3954780"/>
            <a:ext cx="44074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exec suspect_container cat /tmp/evidence.txt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8458200" y="3954780"/>
            <a:ext cx="3273552" cy="4343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8549640" y="3954780"/>
            <a:ext cx="310896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exec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57200" y="4389120"/>
            <a:ext cx="502920" cy="43434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548640" y="4389120"/>
            <a:ext cx="33832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960120" y="4389120"/>
            <a:ext cx="2926080" cy="43434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1051560" y="4389120"/>
            <a:ext cx="276148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Suspect's employee ID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3886200" y="4389120"/>
            <a:ext cx="4572000" cy="43434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3977640" y="4389120"/>
            <a:ext cx="44074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correlate clues #2 + #6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8458200" y="4389120"/>
            <a:ext cx="3273552" cy="43434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8549640" y="4389120"/>
            <a:ext cx="310896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correlation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457200" y="4823460"/>
            <a:ext cx="502920" cy="4343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548640" y="4823460"/>
            <a:ext cx="33832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960120" y="4823460"/>
            <a:ext cx="2926080" cy="4343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1051560" y="4823460"/>
            <a:ext cx="276148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commit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3886200" y="4823460"/>
            <a:ext cx="4572000" cy="4343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3977640" y="4823460"/>
            <a:ext cx="44074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--oneline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8458200" y="4823460"/>
            <a:ext cx="3273552" cy="4343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8549640" y="4823460"/>
            <a:ext cx="310896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as an audit trail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457200" y="5257800"/>
            <a:ext cx="502920" cy="43434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548640" y="5257800"/>
            <a:ext cx="33832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960120" y="5257800"/>
            <a:ext cx="2926080" cy="43434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1051560" y="5257800"/>
            <a:ext cx="276148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with suspect's label</a:t>
            </a:r>
            <a:endParaRPr lang="en-US" sz="1050" dirty="0"/>
          </a:p>
        </p:txBody>
      </p:sp>
      <p:sp>
        <p:nvSpPr>
          <p:cNvPr id="81" name="Shape 79"/>
          <p:cNvSpPr/>
          <p:nvPr/>
        </p:nvSpPr>
        <p:spPr>
          <a:xfrm>
            <a:off x="3886200" y="5257800"/>
            <a:ext cx="4572000" cy="43434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3977640" y="5257800"/>
            <a:ext cx="44074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get pods --show-labels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8458200" y="5257800"/>
            <a:ext cx="3273552" cy="43434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8549640" y="5257800"/>
            <a:ext cx="310896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labels as metadata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457200" y="5692140"/>
            <a:ext cx="502920" cy="434340"/>
          </a:xfrm>
          <a:prstGeom prst="rect">
            <a:avLst/>
          </a:prstGeom>
          <a:solidFill>
            <a:srgbClr val="1F160A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548640" y="5692140"/>
            <a:ext cx="33832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250" dirty="0"/>
          </a:p>
        </p:txBody>
      </p:sp>
      <p:sp>
        <p:nvSpPr>
          <p:cNvPr id="87" name="Shape 85"/>
          <p:cNvSpPr/>
          <p:nvPr/>
        </p:nvSpPr>
        <p:spPr>
          <a:xfrm>
            <a:off x="960120" y="5692140"/>
            <a:ext cx="2926080" cy="434340"/>
          </a:xfrm>
          <a:prstGeom prst="rect">
            <a:avLst/>
          </a:prstGeom>
          <a:solidFill>
            <a:srgbClr val="1F160A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1051560" y="5692140"/>
            <a:ext cx="276148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THE CRIMINAL?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3886200" y="5692140"/>
            <a:ext cx="4572000" cy="434340"/>
          </a:xfrm>
          <a:prstGeom prst="rect">
            <a:avLst/>
          </a:prstGeom>
          <a:solidFill>
            <a:srgbClr val="1F160A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3977640" y="5692140"/>
            <a:ext cx="440740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combine all clues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8458200" y="5692140"/>
            <a:ext cx="3273552" cy="434340"/>
          </a:xfrm>
          <a:prstGeom prst="rect">
            <a:avLst/>
          </a:prstGeom>
          <a:solidFill>
            <a:srgbClr val="1F160A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8549640" y="5692140"/>
            <a:ext cx="310896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 synthesis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1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COMMANDS WE USED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tools. Real skills. No simulation.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9174175" y="6473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FILE #001  ·  6/10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2682164" cy="4709160"/>
          </a:xfrm>
          <a:prstGeom prst="roundRect">
            <a:avLst>
              <a:gd name="adj" fmla="val 2727"/>
            </a:avLst>
          </a:prstGeom>
          <a:solidFill>
            <a:srgbClr val="161B22"/>
          </a:solidFill>
          <a:ln w="19050">
            <a:solidFill>
              <a:srgbClr val="7EE78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08760"/>
            <a:ext cx="2682164" cy="777240"/>
          </a:xfrm>
          <a:prstGeom prst="roundRect">
            <a:avLst>
              <a:gd name="adj" fmla="val 9412"/>
            </a:avLst>
          </a:prstGeom>
          <a:solidFill>
            <a:srgbClr val="1C2129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920240"/>
            <a:ext cx="2682164" cy="365760"/>
          </a:xfrm>
          <a:prstGeom prst="rect">
            <a:avLst/>
          </a:prstGeom>
          <a:solidFill>
            <a:srgbClr val="1C212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1581912"/>
            <a:ext cx="26821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🐧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965960"/>
            <a:ext cx="26821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LINUX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" y="2514600"/>
            <a:ext cx="2352980" cy="932688"/>
          </a:xfrm>
          <a:prstGeom prst="roundRect">
            <a:avLst>
              <a:gd name="adj" fmla="val 5882"/>
            </a:avLst>
          </a:prstGeom>
          <a:solidFill>
            <a:srgbClr val="010409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606040"/>
            <a:ext cx="21335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-la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017520"/>
            <a:ext cx="21335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hidden files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" y="3657600"/>
            <a:ext cx="2352980" cy="932688"/>
          </a:xfrm>
          <a:prstGeom prst="roundRect">
            <a:avLst>
              <a:gd name="adj" fmla="val 5882"/>
            </a:avLst>
          </a:prstGeom>
          <a:solidFill>
            <a:srgbClr val="010409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749040"/>
            <a:ext cx="21335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&lt;file&gt;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4160520"/>
            <a:ext cx="21335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file contents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" y="4800600"/>
            <a:ext cx="2352980" cy="932688"/>
          </a:xfrm>
          <a:prstGeom prst="roundRect">
            <a:avLst>
              <a:gd name="adj" fmla="val 5882"/>
            </a:avLst>
          </a:prstGeom>
          <a:solidFill>
            <a:srgbClr val="010409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892040"/>
            <a:ext cx="21335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grep &lt;pattern&gt;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5303520"/>
            <a:ext cx="21335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inside logs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22244" y="1508760"/>
            <a:ext cx="2682164" cy="4709160"/>
          </a:xfrm>
          <a:prstGeom prst="roundRect">
            <a:avLst>
              <a:gd name="adj" fmla="val 2727"/>
            </a:avLst>
          </a:prstGeom>
          <a:solidFill>
            <a:srgbClr val="161B22"/>
          </a:solidFill>
          <a:ln w="19050">
            <a:solidFill>
              <a:srgbClr val="79C0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22244" y="1508760"/>
            <a:ext cx="2682164" cy="777240"/>
          </a:xfrm>
          <a:prstGeom prst="roundRect">
            <a:avLst>
              <a:gd name="adj" fmla="val 9412"/>
            </a:avLst>
          </a:prstGeom>
          <a:solidFill>
            <a:srgbClr val="1C2129"/>
          </a:solidFill>
          <a:ln/>
        </p:spPr>
      </p:sp>
      <p:sp>
        <p:nvSpPr>
          <p:cNvPr id="21" name="Shape 19"/>
          <p:cNvSpPr/>
          <p:nvPr/>
        </p:nvSpPr>
        <p:spPr>
          <a:xfrm>
            <a:off x="3322244" y="1920240"/>
            <a:ext cx="2682164" cy="365760"/>
          </a:xfrm>
          <a:prstGeom prst="rect">
            <a:avLst/>
          </a:prstGeom>
          <a:solidFill>
            <a:srgbClr val="1C212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322244" y="1581912"/>
            <a:ext cx="26821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🐳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3322244" y="1965960"/>
            <a:ext cx="26821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486836" y="2514600"/>
            <a:ext cx="2352980" cy="932688"/>
          </a:xfrm>
          <a:prstGeom prst="roundRect">
            <a:avLst>
              <a:gd name="adj" fmla="val 5882"/>
            </a:avLst>
          </a:prstGeom>
          <a:solidFill>
            <a:srgbClr val="010409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596564" y="2606040"/>
            <a:ext cx="21335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ps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3596564" y="3017520"/>
            <a:ext cx="21335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running containers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86836" y="3657600"/>
            <a:ext cx="2352980" cy="932688"/>
          </a:xfrm>
          <a:prstGeom prst="roundRect">
            <a:avLst>
              <a:gd name="adj" fmla="val 5882"/>
            </a:avLst>
          </a:prstGeom>
          <a:solidFill>
            <a:srgbClr val="010409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596564" y="3749040"/>
            <a:ext cx="21335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exec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3596564" y="4160520"/>
            <a:ext cx="21335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cmd inside container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486836" y="4800600"/>
            <a:ext cx="2352980" cy="932688"/>
          </a:xfrm>
          <a:prstGeom prst="roundRect">
            <a:avLst>
              <a:gd name="adj" fmla="val 5882"/>
            </a:avLst>
          </a:prstGeom>
          <a:solidFill>
            <a:srgbClr val="010409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596564" y="4892040"/>
            <a:ext cx="21335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images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3596564" y="5303520"/>
            <a:ext cx="21335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local images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87288" y="1508760"/>
            <a:ext cx="2682164" cy="4709160"/>
          </a:xfrm>
          <a:prstGeom prst="roundRect">
            <a:avLst>
              <a:gd name="adj" fmla="val 2727"/>
            </a:avLst>
          </a:prstGeom>
          <a:solidFill>
            <a:srgbClr val="161B22"/>
          </a:solidFill>
          <a:ln w="19050">
            <a:solidFill>
              <a:srgbClr val="D2A8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87288" y="1508760"/>
            <a:ext cx="2682164" cy="777240"/>
          </a:xfrm>
          <a:prstGeom prst="roundRect">
            <a:avLst>
              <a:gd name="adj" fmla="val 9412"/>
            </a:avLst>
          </a:prstGeom>
          <a:solidFill>
            <a:srgbClr val="1C2129"/>
          </a:solidFill>
          <a:ln/>
        </p:spPr>
      </p:sp>
      <p:sp>
        <p:nvSpPr>
          <p:cNvPr id="35" name="Shape 33"/>
          <p:cNvSpPr/>
          <p:nvPr/>
        </p:nvSpPr>
        <p:spPr>
          <a:xfrm>
            <a:off x="6187288" y="1920240"/>
            <a:ext cx="2682164" cy="365760"/>
          </a:xfrm>
          <a:prstGeom prst="rect">
            <a:avLst/>
          </a:prstGeom>
          <a:solidFill>
            <a:srgbClr val="1C2129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187288" y="1581912"/>
            <a:ext cx="26821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🔧</a:t>
            </a:r>
            <a:endParaRPr lang="en-US" sz="2400" dirty="0"/>
          </a:p>
        </p:txBody>
      </p:sp>
      <p:sp>
        <p:nvSpPr>
          <p:cNvPr id="37" name="Text 35"/>
          <p:cNvSpPr txBox="1"/>
          <p:nvPr/>
        </p:nvSpPr>
        <p:spPr>
          <a:xfrm>
            <a:off x="6187288" y="1965960"/>
            <a:ext cx="26821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351880" y="2514600"/>
            <a:ext cx="2352980" cy="932688"/>
          </a:xfrm>
          <a:prstGeom prst="roundRect">
            <a:avLst>
              <a:gd name="adj" fmla="val 5882"/>
            </a:avLst>
          </a:prstGeom>
          <a:solidFill>
            <a:srgbClr val="010409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461608" y="2606040"/>
            <a:ext cx="21335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--oneline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6461608" y="3017520"/>
            <a:ext cx="21335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commit history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351880" y="3657600"/>
            <a:ext cx="2352980" cy="932688"/>
          </a:xfrm>
          <a:prstGeom prst="roundRect">
            <a:avLst>
              <a:gd name="adj" fmla="val 5882"/>
            </a:avLst>
          </a:prstGeom>
          <a:solidFill>
            <a:srgbClr val="010409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461608" y="3749040"/>
            <a:ext cx="21335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blame &lt;file&gt;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6461608" y="4160520"/>
            <a:ext cx="21335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who changed what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9052331" y="1508760"/>
            <a:ext cx="2682164" cy="4709160"/>
          </a:xfrm>
          <a:prstGeom prst="roundRect">
            <a:avLst>
              <a:gd name="adj" fmla="val 2727"/>
            </a:avLst>
          </a:prstGeom>
          <a:solidFill>
            <a:srgbClr val="161B22"/>
          </a:solidFill>
          <a:ln w="19050">
            <a:solidFill>
              <a:srgbClr val="FFD7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052331" y="1508760"/>
            <a:ext cx="2682164" cy="777240"/>
          </a:xfrm>
          <a:prstGeom prst="roundRect">
            <a:avLst>
              <a:gd name="adj" fmla="val 9412"/>
            </a:avLst>
          </a:prstGeom>
          <a:solidFill>
            <a:srgbClr val="1C2129"/>
          </a:solidFill>
          <a:ln/>
        </p:spPr>
      </p:sp>
      <p:sp>
        <p:nvSpPr>
          <p:cNvPr id="46" name="Shape 44"/>
          <p:cNvSpPr/>
          <p:nvPr/>
        </p:nvSpPr>
        <p:spPr>
          <a:xfrm>
            <a:off x="9052331" y="1920240"/>
            <a:ext cx="2682164" cy="365760"/>
          </a:xfrm>
          <a:prstGeom prst="rect">
            <a:avLst/>
          </a:prstGeom>
          <a:solidFill>
            <a:srgbClr val="1C2129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9052331" y="1581912"/>
            <a:ext cx="26821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☸️</a:t>
            </a:r>
            <a:endParaRPr lang="en-US" sz="2400" dirty="0"/>
          </a:p>
        </p:txBody>
      </p:sp>
      <p:sp>
        <p:nvSpPr>
          <p:cNvPr id="48" name="Text 46"/>
          <p:cNvSpPr txBox="1"/>
          <p:nvPr/>
        </p:nvSpPr>
        <p:spPr>
          <a:xfrm>
            <a:off x="9052331" y="1965960"/>
            <a:ext cx="26821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KUBERNETES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9216923" y="2514600"/>
            <a:ext cx="2352980" cy="932688"/>
          </a:xfrm>
          <a:prstGeom prst="roundRect">
            <a:avLst>
              <a:gd name="adj" fmla="val 5882"/>
            </a:avLst>
          </a:prstGeom>
          <a:solidFill>
            <a:srgbClr val="010409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9326651" y="2606040"/>
            <a:ext cx="21335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get pods</a:t>
            </a:r>
            <a:endParaRPr lang="en-US" sz="1150" dirty="0"/>
          </a:p>
        </p:txBody>
      </p:sp>
      <p:sp>
        <p:nvSpPr>
          <p:cNvPr id="51" name="Text 49"/>
          <p:cNvSpPr txBox="1"/>
          <p:nvPr/>
        </p:nvSpPr>
        <p:spPr>
          <a:xfrm>
            <a:off x="9326651" y="3017520"/>
            <a:ext cx="21335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pods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9216923" y="3657600"/>
            <a:ext cx="2352980" cy="932688"/>
          </a:xfrm>
          <a:prstGeom prst="roundRect">
            <a:avLst>
              <a:gd name="adj" fmla="val 5882"/>
            </a:avLst>
          </a:prstGeom>
          <a:solidFill>
            <a:srgbClr val="010409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9326651" y="3749040"/>
            <a:ext cx="21335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--show-labels</a:t>
            </a:r>
            <a:endParaRPr lang="en-US" sz="1150" dirty="0"/>
          </a:p>
        </p:txBody>
      </p:sp>
      <p:sp>
        <p:nvSpPr>
          <p:cNvPr id="54" name="Text 52"/>
          <p:cNvSpPr txBox="1"/>
          <p:nvPr/>
        </p:nvSpPr>
        <p:spPr>
          <a:xfrm>
            <a:off x="9326651" y="4160520"/>
            <a:ext cx="21335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 pod metadata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1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LIVE DEMO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 — join the investigation right now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9174175" y="6473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FILE #001  ·  7/10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3749040" cy="3794760"/>
          </a:xfrm>
          <a:prstGeom prst="roundRect">
            <a:avLst>
              <a:gd name="adj" fmla="val 1951"/>
            </a:avLst>
          </a:prstGeom>
          <a:solidFill>
            <a:srgbClr val="161B22"/>
          </a:solidFill>
          <a:ln w="19050">
            <a:solidFill>
              <a:srgbClr val="7EE78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1874520"/>
            <a:ext cx="2377440" cy="2377440"/>
          </a:xfrm>
          <a:prstGeom prst="roundRect">
            <a:avLst>
              <a:gd name="adj" fmla="val 1923"/>
            </a:avLst>
          </a:prstGeom>
          <a:solidFill>
            <a:srgbClr val="F0F6FC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187452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TEMPORARILY</a:t>
            </a:r>
            <a:br>
              <a:rPr lang="en-US" sz="15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</a:br>
            <a:r>
              <a:rPr lang="en-US" sz="15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PAUSED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4805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Scan to open the case file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26280" y="1508760"/>
            <a:ext cx="3466948" cy="3794760"/>
          </a:xfrm>
          <a:prstGeom prst="roundRect">
            <a:avLst>
              <a:gd name="adj" fmla="val 2110"/>
            </a:avLst>
          </a:prstGeom>
          <a:solidFill>
            <a:srgbClr val="161B22"/>
          </a:solidFill>
          <a:ln w="19050">
            <a:solidFill>
              <a:srgbClr val="FF7B7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6280" y="1783080"/>
            <a:ext cx="34669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⏱️  TIME REMAINING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743200"/>
            <a:ext cx="34669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03:00</a:t>
            </a:r>
            <a:endParaRPr lang="en-US" sz="52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4023360"/>
            <a:ext cx="34669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to crack the case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67548" y="1508760"/>
            <a:ext cx="3466948" cy="3794760"/>
          </a:xfrm>
          <a:prstGeom prst="roundRect">
            <a:avLst>
              <a:gd name="adj" fmla="val 2110"/>
            </a:avLst>
          </a:prstGeom>
          <a:solidFill>
            <a:srgbClr val="161B22"/>
          </a:solidFill>
          <a:ln w="19050">
            <a:solidFill>
              <a:srgbClr val="FFD7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67548" y="1709928"/>
            <a:ext cx="34669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🏆  LEADERBOARD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541868" y="2194560"/>
            <a:ext cx="29183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 </a:t>
            </a:r>
            <a:r>
              <a:rPr lang="en-US" sz="12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Alpha    </a:t>
            </a:r>
            <a:r>
              <a:rPr lang="en-US" sz="12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04:12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541868" y="2697480"/>
            <a:ext cx="29183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 </a:t>
            </a:r>
            <a:r>
              <a:rPr lang="en-US" sz="12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Bravo    </a:t>
            </a:r>
            <a:r>
              <a:rPr lang="en-US" sz="12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05:47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541868" y="3200400"/>
            <a:ext cx="29183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 </a:t>
            </a:r>
            <a:r>
              <a:rPr lang="en-US" sz="12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Charlie  </a:t>
            </a:r>
            <a:r>
              <a:rPr lang="en-US" sz="12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06:30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5532120"/>
            <a:ext cx="3576218" cy="685800"/>
          </a:xfrm>
          <a:prstGeom prst="roundRect">
            <a:avLst>
              <a:gd name="adj" fmla="val 10667"/>
            </a:avLst>
          </a:prstGeom>
          <a:solidFill>
            <a:srgbClr val="1C212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5532120"/>
            <a:ext cx="32104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real commands — no simulation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07738" y="5532120"/>
            <a:ext cx="3576218" cy="685800"/>
          </a:xfrm>
          <a:prstGeom prst="roundRect">
            <a:avLst>
              <a:gd name="adj" fmla="val 10667"/>
            </a:avLst>
          </a:prstGeom>
          <a:solidFill>
            <a:srgbClr val="1C212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490618" y="5532120"/>
            <a:ext cx="32104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as many clues as you can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58277" y="5532120"/>
            <a:ext cx="3576218" cy="685800"/>
          </a:xfrm>
          <a:prstGeom prst="roundRect">
            <a:avLst>
              <a:gd name="adj" fmla="val 10667"/>
            </a:avLst>
          </a:prstGeom>
          <a:solidFill>
            <a:srgbClr val="1C212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341157" y="5532120"/>
            <a:ext cx="32104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correct team wins bragging rights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1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LEARNING OUTCOMES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clue maps to a real DevOps role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9174175" y="6473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FILE #001  ·  8/10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1277295" cy="713232"/>
          </a:xfrm>
          <a:prstGeom prst="roundRect">
            <a:avLst>
              <a:gd name="adj" fmla="val 8974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4380" y="1568196"/>
            <a:ext cx="502920" cy="502920"/>
          </a:xfrm>
          <a:prstGeom prst="ellipse">
            <a:avLst/>
          </a:prstGeom>
          <a:solidFill>
            <a:srgbClr val="1C2129"/>
          </a:solidFill>
          <a:ln w="19050">
            <a:solidFill>
              <a:srgbClr val="7EE78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54380" y="15681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🐧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1463040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Linux Fundamentals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852160" y="1463040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1463040"/>
            <a:ext cx="49679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 / Support Engineer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249424"/>
            <a:ext cx="11277295" cy="713232"/>
          </a:xfrm>
          <a:prstGeom prst="roundRect">
            <a:avLst>
              <a:gd name="adj" fmla="val 8974"/>
            </a:avLst>
          </a:prstGeom>
          <a:solidFill>
            <a:srgbClr val="1C2129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4380" y="2354580"/>
            <a:ext cx="502920" cy="502920"/>
          </a:xfrm>
          <a:prstGeom prst="ellipse">
            <a:avLst/>
          </a:prstGeom>
          <a:solidFill>
            <a:srgbClr val="1C2129"/>
          </a:solidFill>
          <a:ln w="19050">
            <a:solidFill>
              <a:srgbClr val="79C0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4380" y="23545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🐳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2249424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Concepts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852160" y="2249424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2249424"/>
            <a:ext cx="49679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Engineer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035808"/>
            <a:ext cx="11277295" cy="713232"/>
          </a:xfrm>
          <a:prstGeom prst="roundRect">
            <a:avLst>
              <a:gd name="adj" fmla="val 8974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4380" y="3140964"/>
            <a:ext cx="502920" cy="502920"/>
          </a:xfrm>
          <a:prstGeom prst="ellipse">
            <a:avLst/>
          </a:prstGeom>
          <a:solidFill>
            <a:srgbClr val="1C2129"/>
          </a:solidFill>
          <a:ln w="19050">
            <a:solidFill>
              <a:srgbClr val="D2A8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4380" y="31409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🔧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3035808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Forensics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852160" y="3035808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3035808"/>
            <a:ext cx="49679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Analyst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3822192"/>
            <a:ext cx="11277295" cy="713232"/>
          </a:xfrm>
          <a:prstGeom prst="roundRect">
            <a:avLst>
              <a:gd name="adj" fmla="val 8974"/>
            </a:avLst>
          </a:prstGeom>
          <a:solidFill>
            <a:srgbClr val="1C2129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4380" y="3927348"/>
            <a:ext cx="502920" cy="502920"/>
          </a:xfrm>
          <a:prstGeom prst="ellipse">
            <a:avLst/>
          </a:prstGeom>
          <a:solidFill>
            <a:srgbClr val="1C2129"/>
          </a:solidFill>
          <a:ln w="19050">
            <a:solidFill>
              <a:srgbClr val="FFD7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54380" y="39273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☸️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1463040" y="3822192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Kubernetes Basics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5852160" y="3822192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6583680" y="3822192"/>
            <a:ext cx="49679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/ DevOps Engineer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57200" y="4608576"/>
            <a:ext cx="11277295" cy="713232"/>
          </a:xfrm>
          <a:prstGeom prst="roundRect">
            <a:avLst>
              <a:gd name="adj" fmla="val 8974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4380" y="4713732"/>
            <a:ext cx="502920" cy="502920"/>
          </a:xfrm>
          <a:prstGeom prst="ellipse">
            <a:avLst/>
          </a:prstGeom>
          <a:solidFill>
            <a:srgbClr val="1C2129"/>
          </a:solidFill>
          <a:ln w="19050">
            <a:solidFill>
              <a:srgbClr val="FF7B7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54380" y="47137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1463040" y="4608576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Incident Response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5852160" y="4608576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6583680" y="4608576"/>
            <a:ext cx="49679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Analyst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57200" y="5394960"/>
            <a:ext cx="11277295" cy="713232"/>
          </a:xfrm>
          <a:prstGeom prst="roundRect">
            <a:avLst>
              <a:gd name="adj" fmla="val 8974"/>
            </a:avLst>
          </a:prstGeom>
          <a:solidFill>
            <a:srgbClr val="1C2129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4380" y="5500116"/>
            <a:ext cx="502920" cy="502920"/>
          </a:xfrm>
          <a:prstGeom prst="ellipse">
            <a:avLst/>
          </a:prstGeom>
          <a:solidFill>
            <a:srgbClr val="1C2129"/>
          </a:solidFill>
          <a:ln w="19050">
            <a:solidFill>
              <a:srgbClr val="F0F6F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54380" y="55001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🤝</a:t>
            </a:r>
            <a:endParaRPr lang="en-US" sz="2000" dirty="0"/>
          </a:p>
        </p:txBody>
      </p:sp>
      <p:sp>
        <p:nvSpPr>
          <p:cNvPr id="38" name="Text 36"/>
          <p:cNvSpPr txBox="1"/>
          <p:nvPr/>
        </p:nvSpPr>
        <p:spPr>
          <a:xfrm>
            <a:off x="1463040" y="5394960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Teamwork &amp; Time Mgmt.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5852160" y="5394960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40" name="Text 38"/>
          <p:cNvSpPr txBox="1"/>
          <p:nvPr/>
        </p:nvSpPr>
        <p:spPr>
          <a:xfrm>
            <a:off x="6583680" y="5394960"/>
            <a:ext cx="49679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tech role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7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1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DOCUMENTATION &amp; GITHUB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Open-source. Fully documented. Editable.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9174175" y="6473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FILE #001  ·  9/10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5394960" cy="4709160"/>
          </a:xfrm>
          <a:prstGeom prst="roundRect">
            <a:avLst>
              <a:gd name="adj" fmla="val 135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08760"/>
            <a:ext cx="5394960" cy="310896"/>
          </a:xfrm>
          <a:prstGeom prst="roundRect">
            <a:avLst>
              <a:gd name="adj" fmla="val 20588"/>
            </a:avLst>
          </a:prstGeom>
          <a:solidFill>
            <a:srgbClr val="010409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664208"/>
            <a:ext cx="5394960" cy="155448"/>
          </a:xfrm>
          <a:prstGeom prst="rect">
            <a:avLst/>
          </a:prstGeom>
          <a:solidFill>
            <a:srgbClr val="010409"/>
          </a:solidFill>
          <a:ln/>
        </p:spPr>
      </p:sp>
      <p:sp>
        <p:nvSpPr>
          <p:cNvPr id="8" name="Shape 6"/>
          <p:cNvSpPr/>
          <p:nvPr/>
        </p:nvSpPr>
        <p:spPr>
          <a:xfrm>
            <a:off x="603504" y="1623060"/>
            <a:ext cx="82296" cy="82296"/>
          </a:xfrm>
          <a:prstGeom prst="ellipse">
            <a:avLst/>
          </a:prstGeom>
          <a:solidFill>
            <a:srgbClr val="FF7B72"/>
          </a:solidFill>
          <a:ln/>
        </p:spPr>
      </p:sp>
      <p:sp>
        <p:nvSpPr>
          <p:cNvPr id="9" name="Shape 7"/>
          <p:cNvSpPr/>
          <p:nvPr/>
        </p:nvSpPr>
        <p:spPr>
          <a:xfrm>
            <a:off x="804672" y="1623060"/>
            <a:ext cx="82296" cy="82296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10" name="Shape 8"/>
          <p:cNvSpPr/>
          <p:nvPr/>
        </p:nvSpPr>
        <p:spPr>
          <a:xfrm>
            <a:off x="1005840" y="1623060"/>
            <a:ext cx="82296" cy="82296"/>
          </a:xfrm>
          <a:prstGeom prst="ellipse">
            <a:avLst/>
          </a:prstGeom>
          <a:solidFill>
            <a:srgbClr val="7EE78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325880" y="150876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devops-murder-mystery/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196596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03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</a:t>
            </a:r>
            <a:r>
              <a:rPr lang="en-US" sz="12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235000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03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</a:t>
            </a:r>
            <a:r>
              <a:rPr lang="en-US" sz="12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case_file.md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273405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03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</a:t>
            </a:r>
            <a:r>
              <a:rPr lang="en-US" sz="12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answer_key.md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11810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03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</a:t>
            </a:r>
            <a:r>
              <a:rPr lang="en-US" sz="12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setup.sh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350215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03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</a:t>
            </a:r>
            <a:r>
              <a:rPr lang="en-US" sz="12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8862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03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</a:t>
            </a:r>
            <a:r>
              <a:rPr lang="en-US" sz="12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script.js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27024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03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</a:t>
            </a:r>
            <a:r>
              <a:rPr lang="en-US" sz="125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1508760"/>
            <a:ext cx="5562295" cy="4709160"/>
          </a:xfrm>
          <a:prstGeom prst="roundRect">
            <a:avLst>
              <a:gd name="adj" fmla="val 155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1819656"/>
            <a:ext cx="457200" cy="457200"/>
          </a:xfrm>
          <a:prstGeom prst="ellipse">
            <a:avLst/>
          </a:prstGeom>
          <a:solidFill>
            <a:srgbClr val="1C2129"/>
          </a:solidFill>
          <a:ln w="19050">
            <a:solidFill>
              <a:srgbClr val="7EE78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46520" y="1819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</a:rPr>
              <a:t>📄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7040880" y="1828800"/>
            <a:ext cx="4373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040880" y="2084832"/>
            <a:ext cx="43735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usage guide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46520" y="2688336"/>
            <a:ext cx="457200" cy="457200"/>
          </a:xfrm>
          <a:prstGeom prst="ellipse">
            <a:avLst/>
          </a:prstGeom>
          <a:solidFill>
            <a:srgbClr val="1C2129"/>
          </a:solidFill>
          <a:ln w="19050">
            <a:solidFill>
              <a:srgbClr val="7EE78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46520" y="2688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</a:rPr>
              <a:t>📖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7040880" y="2697480"/>
            <a:ext cx="4373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case_file.md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040880" y="2953512"/>
            <a:ext cx="43735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story script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46520" y="3557016"/>
            <a:ext cx="457200" cy="457200"/>
          </a:xfrm>
          <a:prstGeom prst="ellipse">
            <a:avLst/>
          </a:prstGeom>
          <a:solidFill>
            <a:srgbClr val="1C2129"/>
          </a:solidFill>
          <a:ln w="19050">
            <a:solidFill>
              <a:srgbClr val="7EE78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46520" y="3557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</a:rPr>
              <a:t>🔑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7040880" y="3566160"/>
            <a:ext cx="4373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answer_key.md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040880" y="3822192"/>
            <a:ext cx="43735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clue &amp; solution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46520" y="4425696"/>
            <a:ext cx="457200" cy="457200"/>
          </a:xfrm>
          <a:prstGeom prst="ellipse">
            <a:avLst/>
          </a:prstGeom>
          <a:solidFill>
            <a:srgbClr val="1C2129"/>
          </a:solidFill>
          <a:ln w="19050">
            <a:solidFill>
              <a:srgbClr val="7EE787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46520" y="4425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</a:rPr>
              <a:t>⚙️</a:t>
            </a:r>
            <a:endParaRPr lang="en-US" sz="1700" dirty="0"/>
          </a:p>
        </p:txBody>
      </p:sp>
      <p:sp>
        <p:nvSpPr>
          <p:cNvPr id="34" name="Text 32"/>
          <p:cNvSpPr txBox="1"/>
          <p:nvPr/>
        </p:nvSpPr>
        <p:spPr>
          <a:xfrm>
            <a:off x="7040880" y="4434840"/>
            <a:ext cx="4373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setup.sh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7040880" y="4690872"/>
            <a:ext cx="43735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One-command environment builder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46520" y="5303520"/>
            <a:ext cx="5013655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46520" y="5486400"/>
            <a:ext cx="5013655" cy="502920"/>
          </a:xfrm>
          <a:prstGeom prst="roundRect">
            <a:avLst>
              <a:gd name="adj" fmla="val 43636"/>
            </a:avLst>
          </a:prstGeom>
          <a:solidFill>
            <a:srgbClr val="10241A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446520" y="5486400"/>
            <a:ext cx="5013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7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🔓  Editable — fork it &amp; write your own mystery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80560" y="502920"/>
            <a:ext cx="3246120" cy="457200"/>
          </a:xfrm>
          <a:prstGeom prst="roundRect">
            <a:avLst>
              <a:gd name="adj" fmla="val 48000"/>
            </a:avLst>
          </a:prstGeom>
          <a:solidFill>
            <a:srgbClr val="10241A"/>
          </a:solidFill>
          <a:ln w="15875">
            <a:solidFill>
              <a:srgbClr val="7EE78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480560" y="5029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1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CASE CLOSED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 learned DevOps </a:t>
            </a:r>
            <a:r>
              <a:rPr lang="en-US" sz="30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 solving a crime.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3576218" cy="1371600"/>
          </a:xfrm>
          <a:prstGeom prst="roundRect">
            <a:avLst>
              <a:gd name="adj" fmla="val 533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496312"/>
            <a:ext cx="35762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🎮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017520"/>
            <a:ext cx="32104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Gamified learning = better retention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07738" y="2331720"/>
            <a:ext cx="3576218" cy="1371600"/>
          </a:xfrm>
          <a:prstGeom prst="roundRect">
            <a:avLst>
              <a:gd name="adj" fmla="val 533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07738" y="2496312"/>
            <a:ext cx="35762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💻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4490618" y="3017520"/>
            <a:ext cx="32104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commands. Real tools. Real fun.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58277" y="2331720"/>
            <a:ext cx="3576218" cy="1371600"/>
          </a:xfrm>
          <a:prstGeom prst="roundRect">
            <a:avLst>
              <a:gd name="adj" fmla="val 533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58277" y="2496312"/>
            <a:ext cx="35762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🤝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8341157" y="3017520"/>
            <a:ext cx="32104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Open-source, documented, and yours to remix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651760" y="4114800"/>
            <a:ext cx="6885432" cy="1691640"/>
          </a:xfrm>
          <a:prstGeom prst="roundRect">
            <a:avLst>
              <a:gd name="adj" fmla="val 378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51760" y="4114800"/>
            <a:ext cx="6885432" cy="310896"/>
          </a:xfrm>
          <a:prstGeom prst="roundRect">
            <a:avLst>
              <a:gd name="adj" fmla="val 20588"/>
            </a:avLst>
          </a:prstGeom>
          <a:solidFill>
            <a:srgbClr val="010409"/>
          </a:solidFill>
          <a:ln/>
        </p:spPr>
      </p:sp>
      <p:sp>
        <p:nvSpPr>
          <p:cNvPr id="16" name="Shape 14"/>
          <p:cNvSpPr/>
          <p:nvPr/>
        </p:nvSpPr>
        <p:spPr>
          <a:xfrm>
            <a:off x="2651760" y="4270248"/>
            <a:ext cx="6885432" cy="155448"/>
          </a:xfrm>
          <a:prstGeom prst="rect">
            <a:avLst/>
          </a:prstGeom>
          <a:solidFill>
            <a:srgbClr val="010409"/>
          </a:solidFill>
          <a:ln/>
        </p:spPr>
      </p:sp>
      <p:sp>
        <p:nvSpPr>
          <p:cNvPr id="17" name="Shape 15"/>
          <p:cNvSpPr/>
          <p:nvPr/>
        </p:nvSpPr>
        <p:spPr>
          <a:xfrm>
            <a:off x="2798064" y="4229100"/>
            <a:ext cx="82296" cy="82296"/>
          </a:xfrm>
          <a:prstGeom prst="ellipse">
            <a:avLst/>
          </a:prstGeom>
          <a:solidFill>
            <a:srgbClr val="FF7B72"/>
          </a:solidFill>
          <a:ln/>
        </p:spPr>
      </p:sp>
      <p:sp>
        <p:nvSpPr>
          <p:cNvPr id="18" name="Shape 16"/>
          <p:cNvSpPr/>
          <p:nvPr/>
        </p:nvSpPr>
        <p:spPr>
          <a:xfrm>
            <a:off x="2999232" y="4229100"/>
            <a:ext cx="82296" cy="82296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19" name="Shape 17"/>
          <p:cNvSpPr/>
          <p:nvPr/>
        </p:nvSpPr>
        <p:spPr>
          <a:xfrm>
            <a:off x="3200400" y="4229100"/>
            <a:ext cx="82296" cy="82296"/>
          </a:xfrm>
          <a:prstGeom prst="ellipse">
            <a:avLst/>
          </a:prstGeom>
          <a:solidFill>
            <a:srgbClr val="7EE78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520440" y="4114800"/>
            <a:ext cx="5788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contact.txt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2926080" y="461772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3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contact.txt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2926080" y="507492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💻 </a:t>
            </a:r>
            <a:r>
              <a:rPr lang="en-US" sz="13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github.com/Axestein/devops-murder-mystery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2926080" y="548640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📧 </a:t>
            </a:r>
            <a:r>
              <a:rPr lang="en-US" sz="13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adityandmb@gmail.com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598932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Questions?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_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917</Words>
  <Application>Microsoft Office PowerPoint</Application>
  <PresentationFormat>Widescreen</PresentationFormat>
  <Paragraphs>251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Aditya Kumar Singh</cp:lastModifiedBy>
  <cp:revision>2</cp:revision>
  <dcterms:created xsi:type="dcterms:W3CDTF">2026-09-27T05:36:28Z</dcterms:created>
  <dcterms:modified xsi:type="dcterms:W3CDTF">2026-09-27T05:41:19Z</dcterms:modified>
</cp:coreProperties>
</file>